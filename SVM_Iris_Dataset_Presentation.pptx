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548640"/>
            <a:ext cx="1828800" cy="1828800"/>
          </a:xfrm>
          <a:prstGeom prst="ellipse">
            <a:avLst/>
          </a:prstGeom>
          <a:solidFill>
            <a:srgbClr val="31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1828800"/>
            <a:ext cx="1143000" cy="1143000"/>
          </a:xfrm>
          <a:prstGeom prst="ellipse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38160" y="2743200"/>
            <a:ext cx="731520" cy="731520"/>
          </a:xfrm>
          <a:prstGeom prst="ellipse">
            <a:avLst/>
          </a:prstGeom>
          <a:solidFill>
            <a:srgbClr val="EDB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657600"/>
            <a:ext cx="1371600" cy="1371600"/>
          </a:xfrm>
          <a:prstGeom prst="ellipse">
            <a:avLst/>
          </a:prstGeom>
          <a:solidFill>
            <a:srgbClr val="31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6949440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SVM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685800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400" b="1">
                <a:solidFill>
                  <a:srgbClr val="B4DDE7"/>
                </a:solidFill>
                <a:latin typeface="Aptos"/>
              </a:defRPr>
            </a:pPr>
            <a:r>
              <a:t>Using the Iris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685800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Machine Learning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731520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DCE6F0"/>
                </a:solidFill>
                <a:latin typeface="Aptos"/>
              </a:defRPr>
            </a:pPr>
            <a:r>
              <a:t>Platform: Kaggle Notebook  |  Language: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73152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B4C3D2"/>
                </a:solidFill>
                <a:latin typeface="Aptos"/>
              </a:defRPr>
            </a:pPr>
            <a:r>
              <a:t>Prepared from the project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What this project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210312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10896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3108960" cy="1417319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Predict the species of an Iris flower from four measurements.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64008" cy="210312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74720" cy="210312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10896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95728"/>
            <a:ext cx="3108960" cy="1417319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Train a supervised Support Vector Machine (SVM) classifier.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64008" cy="210312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210312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10896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95728"/>
            <a:ext cx="3108960" cy="1417319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Evaluate predictions and classify a new flower sample.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64008" cy="210312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1051560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162A4A"/>
                </a:solidFill>
                <a:latin typeface="Aptos"/>
              </a:defRPr>
            </a:pPr>
            <a:r>
              <a:t>Workflow: Load data  →  Inspect  →  Split  →  Scale  →  Train  →  Evaluate  →  Predict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What Is SVM?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Support Vector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2000">
                <a:solidFill>
                  <a:srgbClr val="2B3542"/>
                </a:solidFill>
                <a:latin typeface="Aptos"/>
              </a:defRPr>
            </a:pPr>
            <a:r>
              <a:t>Supervised machine learning algorithm used for classification.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B3542"/>
                </a:solidFill>
                <a:latin typeface="Aptos"/>
              </a:defRPr>
            </a:pPr>
            <a:r>
              <a:t>Finds a decision boundary that separates classes with a wide margin.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B3542"/>
                </a:solidFill>
                <a:latin typeface="Aptos"/>
              </a:defRPr>
            </a:pPr>
            <a:r>
              <a:t>This project uses an RBF kernel to model non-linear class boundaries.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B3542"/>
                </a:solidFill>
                <a:latin typeface="Aptos"/>
              </a:defRPr>
            </a:pPr>
            <a:r>
              <a:t>Feature scaling is applied before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Dataset: Iris Flowers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Dataset loaded directly from scikit-learn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46888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10312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150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2103120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Rows / flower examples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64008" cy="155448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46888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965960"/>
            <a:ext cx="210312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4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95728"/>
            <a:ext cx="2103120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Numeric measurements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828800"/>
            <a:ext cx="64008" cy="155448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1828800"/>
            <a:ext cx="246888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210312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3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95728"/>
            <a:ext cx="2103120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Flower species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828800"/>
            <a:ext cx="64008" cy="155448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1828800"/>
            <a:ext cx="274320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19" y="1965960"/>
            <a:ext cx="237744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No CSV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19" y="2395728"/>
            <a:ext cx="2377440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Loaded with load_iris()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64008" cy="155448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1051560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2B3542"/>
                </a:solidFill>
                <a:latin typeface="Aptos"/>
              </a:defRPr>
            </a:pPr>
            <a:r>
              <a:t>Features (cm): sepal length • sepal width • petal length • petal width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00600"/>
            <a:ext cx="1051560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3169AA"/>
                </a:solidFill>
                <a:latin typeface="Aptos"/>
              </a:defRPr>
            </a:pPr>
            <a:r>
              <a:t>Target classes: Iris setosa  |  Iris versicolor  |  Iris virginica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Tools &amp; Libraries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Python ecosystem used in the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1900">
                <a:solidFill>
                  <a:srgbClr val="2B3542"/>
                </a:solidFill>
                <a:latin typeface="Aptos"/>
              </a:defRPr>
            </a:pPr>
            <a:r>
              <a:t>NumPy and Pandas — arrays and tabular data.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B3542"/>
                </a:solidFill>
                <a:latin typeface="Aptos"/>
              </a:defRPr>
            </a:pPr>
            <a:r>
              <a:t>Matplotlib and Seaborn — charts and confusion-matrix visualization.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B3542"/>
                </a:solidFill>
                <a:latin typeface="Aptos"/>
              </a:defRPr>
            </a:pPr>
            <a:r>
              <a:t>scikit-learn — dataset loading, preprocessing, model training, and evaluation.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B3542"/>
                </a:solidFill>
                <a:latin typeface="Aptos"/>
              </a:defRPr>
            </a:pPr>
            <a:r>
              <a:t>Core components: StandardScaler, SVC, make_pipeline, train_test_split.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Project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Step-by-step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41732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2344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99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971800"/>
            <a:ext cx="123444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2A4A"/>
                </a:solidFill>
                <a:latin typeface="Aptos"/>
              </a:defRPr>
            </a:pPr>
            <a:r>
              <a:t>Load &amp; 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2816352"/>
            <a:ext cx="32004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316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377440"/>
            <a:ext cx="141732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542032"/>
            <a:ext cx="12344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99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971800"/>
            <a:ext cx="123444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2A4A"/>
                </a:solidFill>
                <a:latin typeface="Aptos"/>
              </a:defRPr>
            </a:pPr>
            <a:r>
              <a:t>Set X and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816352"/>
            <a:ext cx="32004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316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377440"/>
            <a:ext cx="141732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59" y="2542032"/>
            <a:ext cx="12344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99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59" y="2971800"/>
            <a:ext cx="123444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2A4A"/>
                </a:solidFill>
                <a:latin typeface="Aptos"/>
              </a:defRPr>
            </a:pPr>
            <a:r>
              <a:t>Train/test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816352"/>
            <a:ext cx="32004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316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2377440"/>
            <a:ext cx="141732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542032"/>
            <a:ext cx="12344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99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971800"/>
            <a:ext cx="123444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2A4A"/>
                </a:solidFill>
                <a:latin typeface="Aptos"/>
              </a:defRPr>
            </a:pPr>
            <a:r>
              <a:t>Scale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816352"/>
            <a:ext cx="32004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316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377440"/>
            <a:ext cx="141732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542032"/>
            <a:ext cx="12344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99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971800"/>
            <a:ext cx="123444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2A4A"/>
                </a:solidFill>
                <a:latin typeface="Aptos"/>
              </a:defRPr>
            </a:pPr>
            <a:r>
              <a:t>Train SVM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2816352"/>
            <a:ext cx="32004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316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2377440"/>
            <a:ext cx="141732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2542032"/>
            <a:ext cx="12344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99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2971800"/>
            <a:ext cx="123444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2A4A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7" y="2816352"/>
            <a:ext cx="32004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3169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0" y="2377440"/>
            <a:ext cx="1417320" cy="13258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07040" y="2542032"/>
            <a:ext cx="123444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399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2971800"/>
            <a:ext cx="123444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62A4A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572000"/>
            <a:ext cx="1051560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2B3542"/>
                </a:solidFill>
                <a:latin typeface="Aptos"/>
              </a:defRPr>
            </a:pPr>
            <a:r>
              <a:t>Data is split with 80% for training and 20% for testing; stratification preserves class proportions.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SVM Model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Settings used in the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9184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9260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Kernel: RBF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2926080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Allows flexible, non-linear decision boundaries.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828800"/>
            <a:ext cx="64008" cy="155448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65960"/>
            <a:ext cx="29260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C =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95728"/>
            <a:ext cx="2926080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Controls the trade-off between margin width and classification errors.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828800"/>
            <a:ext cx="64008" cy="155448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29184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29260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gamma =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95728"/>
            <a:ext cx="2926080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Sets the RBF influence based on the training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64008" cy="155448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332720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62A4A"/>
                </a:solidFill>
                <a:latin typeface="Aptos"/>
              </a:defRPr>
            </a:pPr>
            <a:r>
              <a:t>StandardScaler + SVC are combined in a pipeline to keep preprocessing consistent.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How performance is assessed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6060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2402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240280" cy="12344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Share of test predictions that are correct.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64008" cy="192024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6060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965960"/>
            <a:ext cx="22402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95728"/>
            <a:ext cx="2240280" cy="12344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How many predicted class labels are correct.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828800"/>
            <a:ext cx="64008" cy="192024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260604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22402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95728"/>
            <a:ext cx="2240280" cy="12344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How many real examples of a class were found.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828800"/>
            <a:ext cx="64008" cy="192024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0" y="1828800"/>
            <a:ext cx="2286000" cy="192024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965960"/>
            <a:ext cx="192024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395728"/>
            <a:ext cx="1920240" cy="12344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Balance of precision and recall.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828800"/>
            <a:ext cx="64008" cy="192024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33272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3169AA"/>
                </a:solidFill>
                <a:latin typeface="Aptos"/>
              </a:defRPr>
            </a:pPr>
            <a:r>
              <a:t>A confusion matrix compares actual classes with predicted classes.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677484"/>
                </a:solidFill>
                <a:latin typeface="Aptos"/>
              </a:defRPr>
            </a:pPr>
            <a:r>
              <a:t>The exact accuracy is calculated when the notebook is run; no result is assumed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Example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Predict a species for a new flower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65760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3169AA"/>
                </a:solidFill>
                <a:latin typeface="Aptos"/>
              </a:defRPr>
            </a:pPr>
            <a:r>
              <a:t>Input measurements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389120" cy="1828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2B3542"/>
                </a:solidFill>
                <a:latin typeface="Aptos"/>
              </a:defRPr>
            </a:pPr>
            <a:r>
              <a:t>Sepal length: 5.1 cm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2B3542"/>
                </a:solidFill>
                <a:latin typeface="Aptos"/>
              </a:defRPr>
            </a:pPr>
            <a:r>
              <a:t>Sepal width:  3.5 cm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2B3542"/>
                </a:solidFill>
                <a:latin typeface="Aptos"/>
              </a:defRPr>
            </a:pPr>
            <a:r>
              <a:t>Petal length: 1.4 cm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2B3542"/>
                </a:solidFill>
                <a:latin typeface="Aptos"/>
              </a:defRPr>
            </a:pPr>
            <a:r>
              <a:t>Petal width:  0.2 cm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103120"/>
            <a:ext cx="4754880" cy="1828800"/>
          </a:xfrm>
          <a:prstGeom prst="roundRect">
            <a:avLst/>
          </a:prstGeom>
          <a:solidFill>
            <a:srgbClr val="F1F6FB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240279"/>
            <a:ext cx="438912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3169AA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70048"/>
            <a:ext cx="4389120" cy="11430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2B3542"/>
                </a:solidFill>
                <a:latin typeface="Aptos"/>
              </a:defRPr>
            </a:pPr>
            <a:r>
              <a:t>The trained SVM model returns one of the three Iris species when this cell is executed.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103120"/>
            <a:ext cx="64008" cy="182880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2412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62A4A"/>
                </a:solidFill>
                <a:latin typeface="Aptos"/>
              </a:defRPr>
            </a:pPr>
            <a:r>
              <a:t>The output is generated by svm_model.predict(new_flower).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162A4A"/>
                </a:solidFill>
                <a:latin typeface="Aptos"/>
              </a:defRPr>
            </a:pPr>
            <a:r>
              <a:t>Running the Project on Kaggle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96012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984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677484"/>
                </a:solidFill>
                <a:latin typeface="Aptos"/>
              </a:defRPr>
            </a:pPr>
            <a:r>
              <a:t>Practical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327648"/>
            <a:ext cx="5029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774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1900">
                <a:solidFill>
                  <a:srgbClr val="2B3542"/>
                </a:solidFill>
                <a:latin typeface="Aptos"/>
              </a:defRPr>
            </a:pPr>
            <a:r>
              <a:t>Open Kaggle and create a new Notebook.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B3542"/>
                </a:solidFill>
                <a:latin typeface="Aptos"/>
              </a:defRPr>
            </a:pPr>
            <a:r>
              <a:t>Run the notebook cells in order, from library imports through prediction.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B3542"/>
                </a:solidFill>
                <a:latin typeface="Aptos"/>
              </a:defRPr>
            </a:pPr>
            <a:r>
              <a:t>The Iris data is loaded by scikit-learn, so no separate CSV upload is required.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B3542"/>
                </a:solidFill>
                <a:latin typeface="Aptos"/>
              </a:defRPr>
            </a:pPr>
            <a:r>
              <a:t>Review the printed dataset details, evaluation metrics, confusion matrix, and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17320"/>
            <a:ext cx="100584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CDDCEC"/>
                </a:solidFill>
                <a:latin typeface="Aptos"/>
              </a:defRPr>
            </a:pPr>
            <a:r>
              <a:t>This project demonstrates an end-to-end SVM classification workflow: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601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Load and inspect the Iris dataset.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Prepare and scale features.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Train and evaluate an SVM model.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Visualize results and predict a new sample.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24128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B4DDE7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